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457200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Digital Twin-Enabled AI Framework for Predictive Maintenance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Product Lifecycle Optimization of Heavy Equipment Engine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474720"/>
            <a:ext cx="100584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📚 COURSE: ME4506 – Product Lifecycle Management (PLM)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👨‍🏫 FACULTY MENTOR: Dhanesh Babu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👥 PROJECT TEAM: Thirumalairajan U  &amp;  Tharunkumar RP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ME4506 – PRODUCT LIFECYCLE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Abstract &amp; Problem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⚠️ Limitations of Conventional Maintenance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Extreme Engine Stress: High mechanical loads, continuous vibration, and thermal pulses accelerate bearing and piston wear.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Reactive Maintenance: Fixes components after catastrophic failure, incurring average $48,000+ repair costs and unplanned downtime.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Preventive Maintenance: Fixed-schedule servicing leads to premature replacement of healthy components.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💡 Proposed AI + Digital Twin Framework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Digital Twin Virtualization: Real-time telemetry monitoring (Temp, Vibration, Oil Pressure, RPM, Load, Duty Hours).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Parallel Machine Learning: Random Forest Classifier (96.67% accuracy) &amp; RUL Regressor (R² = 0.97).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PLM Decision Layer: Converts AI predictions into 3 actionable lifecycle decisions (Operate, Maintain, Replace).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ME4506 – PRODUCT LIFECYCLE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Key Objectives &amp;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Objective 1: Dataset Engineering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Build a synthetic/real sensor dataset (1,200 records) reflecting realistic engine degradation physics and operational stress parameters.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8036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Objective 2: Machine Learning Models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Train a Random Forest classifier for health state prediction (Healthy, Warning, Failure) and a regressor for Remaining Useful Life (RUL) estimation.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Objective 3: Digital Twin Dashboard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Develop an interactive Streamlit digital twin dashboard to mirror physical component state, displaying RUL gauges, ISO 10816 vibration classes, and CAD wear maps.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4924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Objective 4: PLM Decision Integration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Integrate AI outputs directly into a PLM decision layer to recommend Operate, Maintain, or Replace actions with financial ROI cost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ME4506 – PRODUCT LIFECYCLE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Digital Thread Telemetry Pipeline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9202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1. Edge Telemetry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Temp, Vibration, Oil Press, RPM, Load,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011680"/>
            <a:ext cx="19202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2. Data Preprocessing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StandardScaler &amp; LabelEncoder (Python)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011680"/>
            <a:ext cx="19202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3. ML Inference Engine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Random Forest Classifier &amp; RUL Regressor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011680"/>
            <a:ext cx="19202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4. Digital Twin Dashboard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Real-Time Telemetry &amp; ISO 10816 Diagnostics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011680"/>
            <a:ext cx="19202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5. Enterprise PLM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PTC Windchill sBOM Export &amp; ECR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ME4506 – PRODUCT LIFECYCLE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Machine Learning Performance &amp;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🎯 Classifier Results (Random Forest)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Accuracy: 96.67%</a:t>
            </a:r>
            <a:br/>
            <a:r>
              <a:t>• Weighted Precision: 96.71%</a:t>
            </a:r>
            <a:br/>
            <a:r>
              <a:t>• Weighted Recall: 96.67%</a:t>
            </a:r>
            <a:br/>
            <a:r>
              <a:t>• F1 Score: 96.68%</a:t>
            </a:r>
            <a:br/>
            <a:br/>
            <a:r>
              <a:t>Confusion Matrix: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              Failure  Healthy  Warning</a:t>
            </a:r>
            <a:br/>
            <a:r>
              <a:t>Failure       67         0        3</a:t>
            </a:r>
            <a:br/>
            <a:r>
              <a:t>Healthy        0        68        2</a:t>
            </a:r>
            <a:br/>
            <a:r>
              <a:t>Warning        3         0       97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📈 RUL Regressor Results (Random Forest)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Mean Absolute Error (MAE): 42.40 hours</a:t>
            </a:r>
            <a:br/>
            <a:r>
              <a:t>• Root Mean Sq Error (RMSE): 54.80 hours</a:t>
            </a:r>
            <a:br/>
            <a:r>
              <a:t>• R² Score: 0.9717 (97.17% Variance Explained)</a:t>
            </a:r>
            <a:br/>
            <a:br/>
            <a:r>
              <a:t>Key Insights:</a:t>
            </a:r>
            <a:br/>
            <a:r>
              <a:t>• High precision RUL estimation enables proactive maintenance scheduling 150+ hours prior to catastrophic failure hazard.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ME4506 – PRODUCT LIFECYCLE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ISO Engineering Standards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ISO 10816 / ISO 20816 – Mechanical Vibration Severity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Monitors non-rotating bearing vibration velocity (mm/s):</a:t>
            </a:r>
            <a:br/>
            <a:r>
              <a:t>• Class A: Good / Excellent (&lt; 2.8 mm/s)</a:t>
            </a:r>
            <a:br/>
            <a:r>
              <a:t>• Class B: Acceptable Operation (2.8 - 7.1 mm/s)</a:t>
            </a:r>
            <a:br/>
            <a:r>
              <a:t>• Class C: Unsatisfactory (7.1 - 11.2 mm/s)</a:t>
            </a:r>
            <a:br/>
            <a:r>
              <a:t>• Class D: Damage Hazard (&gt; 11.2 mm/s)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4612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ISO 4406 – Fluid Cleanliness Rating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Quantifies solid particle contamination per mL across 3 size thresholds (≥4µm / ≥6µm / ≥14µm). High particle counts correlate with bearing spalling and cylinder scuffing.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ISO 13374 &amp; ISO 23247 – Digital Twin Standards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Standardized Condition Monitoring architecture (Data Acquisition → State Detection → Health Assessment → Prognostics RUL → Advisory Generation).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ME4506 – PRODUCT LIFECYCLE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Digital Twin Telemetry Dashboard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🌐 Live Telemetry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Real-time health status badges (Healthy 🟢, Warning 🟡, Failure Risk 🔴) &amp; confidence scores.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4688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📊 RUL Gauge Indicator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Visual Plotly gauge tracking remaining operational hours against overhaul thresholds.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4688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🧩 Subsystem Wear Map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Dynamic wear index computation for Crankshaft Bearings, Pistons, Oil Pump, and Turbocharger.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4688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🎛️ Simulation Modes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Pre-configured operational stress tests (Thermal Overload, Vibration Fault, Lubrication Starvation).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ME4506 – PRODUCT LIFECYCLE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Explainable AI (XAI) &amp; Generative AI Copilot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🔍 Feature Importance (XAI)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Quantifies mathematical feature weights to identify principal degradation drivers.</a:t>
            </a:r>
            <a:br/>
            <a:r>
              <a:t>• Identifies primary failure mechanisms (e.g. vibration velocity or oil pressure drop).</a:t>
            </a:r>
            <a:br/>
            <a:r>
              <a:t>• Generates automated plain-English diagnostic evaluations for engineers.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🤖 Generative AI Copilot &amp; RCFA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Interactive AI Chatbot: Answers custom technical questions on bearing repair &amp; PLM strategy.</a:t>
            </a:r>
            <a:br/>
            <a:r>
              <a:t>• Root Cause Failure Analysis (RCFA): Recommends exact overhaul kits (PM-250, PM-1000, PM-3000).</a:t>
            </a:r>
            <a:br/>
            <a:r>
              <a:t>• Google Gemini API Support with intelligent offline engineering fallback.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ME4506 – PRODUCT LIFECYCLE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PLM Decision Layer &amp; Financial ROI Optimizer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1. Operate (Healthy 🟢)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Continue standard operation &amp; PM-250 servicing.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2. Maintain (Warning 🟡)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Schedule inspection within 150 hrs &amp; PM-1000 overhaul.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3. Replace (Failure 🔴)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Initiate replacement planning &amp; PM-3000 emergency kit.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26517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💰 Financial ROI &amp; Enterprise PLM Integration (PTC Windchill)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Cost Savings: Preventative maintenance (₹1,20,000) vs catastrophic engine failure (₹35,00,000) yields ₹33,80,000+ net PLM savings.</a:t>
            </a:r>
            <a:br/>
            <a:r>
              <a:t>• PTC Windchill Export: One-click export of Service Bill of Materials (sBOM.csv) containing part numbers and live AI health state.</a:t>
            </a:r>
            <a:br/>
            <a:r>
              <a:t>• Closed-Loop Digital Thread: Connects As-Designed CAD definition with As-Operated field telemetry.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ME4506 – PRODUCT LIFECYCLE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✅ Project Conclusion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Successfully built an AI-driven Digital Twin framework for heavy equipment engines.</a:t>
            </a:r>
            <a:br/>
            <a:r>
              <a:t>• Achieved 96.67% health classification accuracy &amp; 0.97 R² RUL regression score.</a:t>
            </a:r>
            <a:br/>
            <a:r>
              <a:t>• Closed the loop between sensor telemetry and PLM decision making, shifting maintenance from reactive to fully predictive.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🔮 Future Scope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1. Edge AI Microcontrollers: Deploying quantized ONNX models on engine ECU edge hardware.</a:t>
            </a:r>
            <a:br/>
            <a:r>
              <a:t>2. Physics-Informed Neural Networks (PINN): Coupling thermodynamic equations with deep learning.</a:t>
            </a:r>
            <a:br/>
            <a:r>
              <a:t>3. Direct SAP / Siemens Teamcenter API Connectors: Automated work-order dispatch via MQTT/REST.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